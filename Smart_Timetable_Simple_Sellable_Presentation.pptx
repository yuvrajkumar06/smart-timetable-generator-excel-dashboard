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F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</c:v>
                  </c:pt>
                  <c:pt idx="1">
                    <c:v>CSE</c:v>
                  </c:pt>
                  <c:pt idx="2">
                    <c:v>ECE</c:v>
                  </c:pt>
                  <c:pt idx="3">
                    <c:v>EE</c:v>
                  </c:pt>
                  <c:pt idx="4">
                    <c:v>ME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164</c:v>
                </c:pt>
                <c:pt idx="1">
                  <c:v>201</c:v>
                </c:pt>
                <c:pt idx="2">
                  <c:v>178</c:v>
                </c:pt>
                <c:pt idx="3">
                  <c:v>189</c:v>
                </c:pt>
                <c:pt idx="4">
                  <c:v>168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1F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Teachers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D64545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Balanced</c:v>
                </c:pt>
                <c:pt idx="1">
                  <c:v>Overloaded</c:v>
                </c:pt>
                <c:pt idx="2">
                  <c:v>Underloaded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12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9098280" y="5486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4" name="Shape 2"/>
          <p:cNvSpPr/>
          <p:nvPr/>
        </p:nvSpPr>
        <p:spPr>
          <a:xfrm>
            <a:off x="9098280" y="155448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5" name="Shape 3"/>
          <p:cNvSpPr/>
          <p:nvPr/>
        </p:nvSpPr>
        <p:spPr>
          <a:xfrm>
            <a:off x="9098280" y="256032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6" name="Shape 4"/>
          <p:cNvSpPr/>
          <p:nvPr/>
        </p:nvSpPr>
        <p:spPr>
          <a:xfrm>
            <a:off x="9098280" y="356616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7" name="Shape 5"/>
          <p:cNvSpPr/>
          <p:nvPr/>
        </p:nvSpPr>
        <p:spPr>
          <a:xfrm>
            <a:off x="9098280" y="457200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8" name="Shape 6"/>
          <p:cNvSpPr/>
          <p:nvPr/>
        </p:nvSpPr>
        <p:spPr>
          <a:xfrm>
            <a:off x="9098280" y="55778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9" name="Shape 7"/>
          <p:cNvSpPr/>
          <p:nvPr/>
        </p:nvSpPr>
        <p:spPr>
          <a:xfrm>
            <a:off x="9848088" y="5486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0" name="Shape 8"/>
          <p:cNvSpPr/>
          <p:nvPr/>
        </p:nvSpPr>
        <p:spPr>
          <a:xfrm>
            <a:off x="9848088" y="155448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1" name="Shape 9"/>
          <p:cNvSpPr/>
          <p:nvPr/>
        </p:nvSpPr>
        <p:spPr>
          <a:xfrm>
            <a:off x="9848088" y="256032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2" name="Shape 10"/>
          <p:cNvSpPr/>
          <p:nvPr/>
        </p:nvSpPr>
        <p:spPr>
          <a:xfrm>
            <a:off x="9848088" y="356616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3" name="Shape 11"/>
          <p:cNvSpPr/>
          <p:nvPr/>
        </p:nvSpPr>
        <p:spPr>
          <a:xfrm>
            <a:off x="9848088" y="457200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4" name="Shape 12"/>
          <p:cNvSpPr/>
          <p:nvPr/>
        </p:nvSpPr>
        <p:spPr>
          <a:xfrm>
            <a:off x="9848088" y="55778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97896" y="5486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97896" y="155448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97896" y="256032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97896" y="356616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97896" y="457200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97896" y="55778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347704" y="5486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47704" y="155448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47704" y="256032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47704" y="356616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47704" y="457200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347704" y="557784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2B38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97896" y="256032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FFB84D"/>
          </a:solidFill>
          <a:ln/>
        </p:spPr>
      </p:sp>
      <p:sp>
        <p:nvSpPr>
          <p:cNvPr id="28" name="Shape 26"/>
          <p:cNvSpPr/>
          <p:nvPr/>
        </p:nvSpPr>
        <p:spPr>
          <a:xfrm>
            <a:off x="9848088" y="4572000"/>
            <a:ext cx="566928" cy="749808"/>
          </a:xfrm>
          <a:prstGeom prst="roundRect">
            <a:avLst>
              <a:gd name="adj" fmla="val 9677"/>
            </a:avLst>
          </a:prstGeom>
          <a:solidFill>
            <a:srgbClr val="FFB84D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1417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/ COLLEGE OPERATIONS TOOL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1828800"/>
            <a:ext cx="7589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Timetable &amp; Workload Dashboard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822960" y="30632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look at what this project does, and why an institution would pay for it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2960" y="42062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2B3880"/>
          </a:solidFill>
          <a:ln w="12700">
            <a:solidFill>
              <a:srgbClr val="3E4B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2062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Excel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87752" y="420624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2B3880"/>
          </a:solidFill>
          <a:ln w="12700">
            <a:solidFill>
              <a:srgbClr val="3E4B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87752" y="42062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software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26864" y="42062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B3880"/>
          </a:solidFill>
          <a:ln w="12700">
            <a:solidFill>
              <a:srgbClr val="3E4B9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42062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 needed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real class sessions • 20 teachers • 20 classes • tracked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Actually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sentence: it keeps track of every class, teacher, and room automatically, instead of someone doing it by hand.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gri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1590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master list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session — who teaches it, which room, what day, what time — lives in one organized spreadsheet instead of scattered notes.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011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81" y="215908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Watches teacher workload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550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automatically flags which teachers are overloaded and which have room for more classes.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069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icons/calenda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21648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416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lookup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8680" y="47091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a teacher's ID and it instantly shows their entire week — no digging through files.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8404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069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s/tren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81" y="421648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0416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One-page dashboard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355080" y="47091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important numbers and charts in one place, so a head of department can understand the whole school's schedule in 30 seconds.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No Technical Background Needed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sheets talk to each other automatically. Change one number, and everything downstream updates itself.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0976" y="19659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96796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3217" y="24067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15568" y="3447288"/>
            <a:ext cx="20025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Teachers, Subjects, Classes, Rooms, and the weekly Timetable — entered once.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82696" y="2834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602736" y="19659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48556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s/gri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977" y="24067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9896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Sheet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67328" y="3447288"/>
            <a:ext cx="20025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session automatically pulls in the right teacher, room, and subject details.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34456" y="2834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54496" y="19659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00316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737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1656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 Tracker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19088" y="3447288"/>
            <a:ext cx="20025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teacher's hours are totalled and labelled Balanced, Overloaded, or Underloaded.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586216" y="2834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8906256" y="196596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52076" y="2240280"/>
            <a:ext cx="640080" cy="640080"/>
          </a:xfrm>
          <a:prstGeom prst="ellipse">
            <a:avLst/>
          </a:prstGeom>
          <a:solidFill>
            <a:srgbClr val="FFB84D"/>
          </a:solidFill>
          <a:ln/>
        </p:spPr>
      </p:sp>
      <p:pic>
        <p:nvPicPr>
          <p:cNvPr id="24" name="Image 3" descr="icons/calend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8497" y="240670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43416" y="3017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070848" y="3447288"/>
            <a:ext cx="20025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charts, and a teacher look-up tool — all built from the sheets before it.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77240" y="470916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F0F3FF"/>
          </a:solidFill>
          <a:ln/>
        </p:spPr>
      </p:sp>
      <p:sp>
        <p:nvSpPr>
          <p:cNvPr id="28" name="Shape 22"/>
          <p:cNvSpPr/>
          <p:nvPr/>
        </p:nvSpPr>
        <p:spPr>
          <a:xfrm>
            <a:off x="960120" y="49377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9" name="Image 4" descr="icons/zap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879" y="5068519"/>
            <a:ext cx="241402" cy="24140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00200" y="48463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coding, no add-ins.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above is a normal Excel formula — the kind any school's admin staff can open, read, and maintain themselves without hiring a developer.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Numbers, At a Glance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live from the actual dashboard — nothing here is estimated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90472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" y="198424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Tracked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3547872" y="1490472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47872" y="198424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Teacher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(hrs)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490472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91072" y="198424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86968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9034272" y="1490472"/>
            <a:ext cx="2276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34272" y="198424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by Department</a:t>
            </a:r>
            <a:endParaRPr lang="en-US" sz="12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2926080"/>
          <a:ext cx="51206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035040" y="2606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Workload Status</a:t>
            </a:r>
            <a:endParaRPr lang="en-US" sz="125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6035040" y="2926080"/>
          <a:ext cx="5394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 16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a principal in 5 seconds: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departments carry a fairly even load, but 4 teachers are already over capacity — a concrete, visible staffing signal.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Useful — In Plain Terms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jargon: here's what this actually changes for the people who run a school, college, or training center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c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1590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Saves hours every week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checking spreadsheets by hand, one dashboard shows the full picture instantly, every time data changes.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011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81" y="215908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Catches overload before it's a crisis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55080" y="2651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heading toward burnout show up as a red flag automatically — not after a complaint.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1148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icons/dolla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26220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87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new to buy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8680" y="47548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inside Excel, which almost every institution already owns. No license, no IT setup, no subscription.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88620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1148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s/targe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81" y="426220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087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 to trust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355080" y="47548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on the dashboard is traceable back to a real formula — not a guess, not a manual tally that could be wrong.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Sellable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institution would pay for this — or why it's worth building in-house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2B3880"/>
          </a:solidFill>
          <a:ln/>
        </p:spPr>
      </p:sp>
      <p:pic>
        <p:nvPicPr>
          <p:cNvPr id="5" name="Image 0" descr="icons/awar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9762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013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→ minutes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8760" y="22128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workload checks that used to take manual review now take one glance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" y="2788920"/>
            <a:ext cx="566928" cy="566928"/>
          </a:xfrm>
          <a:prstGeom prst="ellipse">
            <a:avLst/>
          </a:prstGeom>
          <a:solidFill>
            <a:srgbClr val="2B3880"/>
          </a:solidFill>
          <a:ln/>
        </p:spPr>
      </p:sp>
      <p:pic>
        <p:nvPicPr>
          <p:cNvPr id="9" name="Image 1" descr="icons/shiel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41" y="293632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7614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cost software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508760" y="31729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license fees — it lives inside Excel, which the institution already owns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77240" y="3749040"/>
            <a:ext cx="566928" cy="566928"/>
          </a:xfrm>
          <a:prstGeom prst="ellipse">
            <a:avLst/>
          </a:prstGeom>
          <a:solidFill>
            <a:srgbClr val="2B3880"/>
          </a:solidFill>
          <a:ln/>
        </p:spPr>
      </p:sp>
      <p:pic>
        <p:nvPicPr>
          <p:cNvPr id="13" name="Image 2" descr="icons/zap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389644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7216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size institution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508760" y="41330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formulas scale from one department to an entire campus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720840" y="1828800"/>
            <a:ext cx="4663440" cy="3063240"/>
          </a:xfrm>
          <a:prstGeom prst="roundRect">
            <a:avLst>
              <a:gd name="adj" fmla="val 2985"/>
            </a:avLst>
          </a:prstGeom>
          <a:solidFill>
            <a:srgbClr val="2B3880"/>
          </a:solidFill>
          <a:ln/>
        </p:spPr>
      </p:sp>
      <p:sp>
        <p:nvSpPr>
          <p:cNvPr id="17" name="Text 12"/>
          <p:cNvSpPr/>
          <p:nvPr/>
        </p:nvSpPr>
        <p:spPr>
          <a:xfrm>
            <a:off x="699516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sells to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995160" y="2578608"/>
            <a:ext cx="100584" cy="100584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19" name="Text 14"/>
          <p:cNvSpPr/>
          <p:nvPr/>
        </p:nvSpPr>
        <p:spPr>
          <a:xfrm>
            <a:off x="7223760" y="244144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&amp; colleges still scheduling by hand or in spreadsheet chaos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995160" y="3108960"/>
            <a:ext cx="100584" cy="100584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21" name="Text 16"/>
          <p:cNvSpPr/>
          <p:nvPr/>
        </p:nvSpPr>
        <p:spPr>
          <a:xfrm>
            <a:off x="7223760" y="2971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institutes juggling instructors across multiple batches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995160" y="3639312"/>
            <a:ext cx="100584" cy="100584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23" name="Text 18"/>
          <p:cNvSpPr/>
          <p:nvPr/>
        </p:nvSpPr>
        <p:spPr>
          <a:xfrm>
            <a:off x="7223760" y="35021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admin office that dreads “timetable season” every term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995160" y="4169664"/>
            <a:ext cx="100584" cy="100584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25" name="Text 20"/>
          <p:cNvSpPr/>
          <p:nvPr/>
        </p:nvSpPr>
        <p:spPr>
          <a:xfrm>
            <a:off x="7223760" y="403250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not ready to pay for heavyweight scheduling software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5074920"/>
            <a:ext cx="10607040" cy="1234440"/>
          </a:xfrm>
          <a:prstGeom prst="roundRect">
            <a:avLst>
              <a:gd name="adj" fmla="val 5926"/>
            </a:avLst>
          </a:prstGeom>
          <a:solidFill>
            <a:srgbClr val="2B3880"/>
          </a:solidFill>
          <a:ln/>
        </p:spPr>
      </p:sp>
      <p:sp>
        <p:nvSpPr>
          <p:cNvPr id="27" name="Text 22"/>
          <p:cNvSpPr/>
          <p:nvPr/>
        </p:nvSpPr>
        <p:spPr>
          <a:xfrm>
            <a:off x="1051560" y="5257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in one line:  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tool that already lives inside the software you own, that turns hours of manual spreadsheet-checking into a one-glance dashboard — and tells you exactly where your staffing is stretched thin.”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2026-07-12T10:01:41Z</dcterms:created>
  <dcterms:modified xsi:type="dcterms:W3CDTF">2026-07-12T10:01:41Z</dcterms:modified>
</cp:coreProperties>
</file>