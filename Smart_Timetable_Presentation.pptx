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ebp" ContentType="image/webp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1F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CE</c:v>
                </c:pt>
                <c:pt idx="1">
                  <c:v>CSE</c:v>
                </c:pt>
                <c:pt idx="2">
                  <c:v>ECE</c:v>
                </c:pt>
                <c:pt idx="3">
                  <c:v>EE</c:v>
                </c:pt>
                <c:pt idx="4">
                  <c:v>ME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164</c:v>
                </c:pt>
                <c:pt idx="1">
                  <c:v>201</c:v>
                </c:pt>
                <c:pt idx="2">
                  <c:v>178</c:v>
                </c:pt>
                <c:pt idx="3">
                  <c:v>189</c:v>
                </c:pt>
                <c:pt idx="4">
                  <c:v>168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F1-43B5-9EA4-A53D928E118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chemeClr val="accent1">
        <a:lumMod val="20000"/>
        <a:lumOff val="80000"/>
      </a:schemeClr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Teachers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8FE-4872-ADC3-AF579E5981B0}"/>
              </c:ext>
            </c:extLst>
          </c:dPt>
          <c:dPt>
            <c:idx val="1"/>
            <c:bubble3D val="0"/>
            <c:spPr>
              <a:solidFill>
                <a:srgbClr val="D64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8FE-4872-ADC3-AF579E5981B0}"/>
              </c:ext>
            </c:extLst>
          </c:dPt>
          <c:dPt>
            <c:idx val="2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8FE-4872-ADC3-AF579E5981B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8FE-4872-ADC3-AF579E5981B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8FE-4872-ADC3-AF579E5981B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8FE-4872-ADC3-AF579E5981B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Balanced</c:v>
                </c:pt>
                <c:pt idx="1">
                  <c:v>Overloaded</c:v>
                </c:pt>
                <c:pt idx="2">
                  <c:v>Underloaded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4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8FE-4872-ADC3-AF579E5981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B647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chemeClr val="accent1">
        <a:lumMod val="20000"/>
        <a:lumOff val="80000"/>
      </a:scheme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142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eb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24306E"/>
          </a:solidFill>
          <a:ln/>
        </p:spPr>
      </p:sp>
      <p:sp>
        <p:nvSpPr>
          <p:cNvPr id="3" name="Shape 1"/>
          <p:cNvSpPr/>
          <p:nvPr/>
        </p:nvSpPr>
        <p:spPr>
          <a:xfrm>
            <a:off x="9098280" y="54864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4" name="Shape 2"/>
          <p:cNvSpPr/>
          <p:nvPr/>
        </p:nvSpPr>
        <p:spPr>
          <a:xfrm>
            <a:off x="9098280" y="155448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5" name="Shape 3"/>
          <p:cNvSpPr/>
          <p:nvPr/>
        </p:nvSpPr>
        <p:spPr>
          <a:xfrm>
            <a:off x="9098280" y="256032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6" name="Shape 4"/>
          <p:cNvSpPr/>
          <p:nvPr/>
        </p:nvSpPr>
        <p:spPr>
          <a:xfrm>
            <a:off x="9098280" y="356616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7" name="Shape 5"/>
          <p:cNvSpPr/>
          <p:nvPr/>
        </p:nvSpPr>
        <p:spPr>
          <a:xfrm>
            <a:off x="9098280" y="457200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8" name="Shape 6"/>
          <p:cNvSpPr/>
          <p:nvPr/>
        </p:nvSpPr>
        <p:spPr>
          <a:xfrm>
            <a:off x="9098280" y="557784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9" name="Shape 7"/>
          <p:cNvSpPr/>
          <p:nvPr/>
        </p:nvSpPr>
        <p:spPr>
          <a:xfrm>
            <a:off x="9848088" y="54864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10" name="Shape 8"/>
          <p:cNvSpPr/>
          <p:nvPr/>
        </p:nvSpPr>
        <p:spPr>
          <a:xfrm>
            <a:off x="9848088" y="155448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11" name="Shape 9"/>
          <p:cNvSpPr/>
          <p:nvPr/>
        </p:nvSpPr>
        <p:spPr>
          <a:xfrm>
            <a:off x="9848088" y="256032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12" name="Shape 10"/>
          <p:cNvSpPr/>
          <p:nvPr/>
        </p:nvSpPr>
        <p:spPr>
          <a:xfrm>
            <a:off x="9848088" y="356616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13" name="Shape 11"/>
          <p:cNvSpPr/>
          <p:nvPr/>
        </p:nvSpPr>
        <p:spPr>
          <a:xfrm>
            <a:off x="9848088" y="457200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14" name="Shape 12"/>
          <p:cNvSpPr/>
          <p:nvPr/>
        </p:nvSpPr>
        <p:spPr>
          <a:xfrm>
            <a:off x="9848088" y="557784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97896" y="54864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97896" y="155448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17" name="Shape 15"/>
          <p:cNvSpPr/>
          <p:nvPr/>
        </p:nvSpPr>
        <p:spPr>
          <a:xfrm>
            <a:off x="10597896" y="256032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18" name="Shape 16"/>
          <p:cNvSpPr/>
          <p:nvPr/>
        </p:nvSpPr>
        <p:spPr>
          <a:xfrm>
            <a:off x="10597896" y="356616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97896" y="457200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20" name="Shape 18"/>
          <p:cNvSpPr/>
          <p:nvPr/>
        </p:nvSpPr>
        <p:spPr>
          <a:xfrm>
            <a:off x="10597896" y="557784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21" name="Shape 19"/>
          <p:cNvSpPr/>
          <p:nvPr/>
        </p:nvSpPr>
        <p:spPr>
          <a:xfrm>
            <a:off x="11347704" y="54864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347704" y="155448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23" name="Shape 21"/>
          <p:cNvSpPr/>
          <p:nvPr/>
        </p:nvSpPr>
        <p:spPr>
          <a:xfrm>
            <a:off x="11347704" y="256032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24" name="Shape 22"/>
          <p:cNvSpPr/>
          <p:nvPr/>
        </p:nvSpPr>
        <p:spPr>
          <a:xfrm>
            <a:off x="11347704" y="356616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25" name="Shape 23"/>
          <p:cNvSpPr/>
          <p:nvPr/>
        </p:nvSpPr>
        <p:spPr>
          <a:xfrm>
            <a:off x="11347704" y="457200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26" name="Shape 24"/>
          <p:cNvSpPr/>
          <p:nvPr/>
        </p:nvSpPr>
        <p:spPr>
          <a:xfrm>
            <a:off x="11347704" y="557784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27" name="Shape 25"/>
          <p:cNvSpPr/>
          <p:nvPr/>
        </p:nvSpPr>
        <p:spPr>
          <a:xfrm>
            <a:off x="10597896" y="256032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FFB84D"/>
          </a:solidFill>
          <a:ln/>
        </p:spPr>
      </p:sp>
      <p:sp>
        <p:nvSpPr>
          <p:cNvPr id="28" name="Shape 26"/>
          <p:cNvSpPr/>
          <p:nvPr/>
        </p:nvSpPr>
        <p:spPr>
          <a:xfrm>
            <a:off x="9848088" y="457200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FFB84D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14173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/ COLLEGE OPERATIONS TOOL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77240" y="1828800"/>
            <a:ext cx="7589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Timetable &amp; Workload Dashboard</a:t>
            </a:r>
            <a:endParaRPr lang="en-US" sz="4000" dirty="0"/>
          </a:p>
        </p:txBody>
      </p:sp>
      <p:sp>
        <p:nvSpPr>
          <p:cNvPr id="31" name="Text 29"/>
          <p:cNvSpPr/>
          <p:nvPr/>
        </p:nvSpPr>
        <p:spPr>
          <a:xfrm>
            <a:off x="822960" y="306324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plain-English look at what this project does, and why an institution would pay for it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2960" y="420624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2B3880"/>
          </a:solidFill>
          <a:ln w="12700">
            <a:solidFill>
              <a:srgbClr val="3E4B9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420624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Excel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587752" y="4206240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2B3880"/>
          </a:solidFill>
          <a:ln w="12700">
            <a:solidFill>
              <a:srgbClr val="3E4B9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87752" y="420624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software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26864" y="420624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2B3880"/>
          </a:solidFill>
          <a:ln w="12700">
            <a:solidFill>
              <a:srgbClr val="3E4B9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26864" y="420624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coding needed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2960" y="5989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real class sessions • 20 teachers • 20 classes • tracked automatically</a:t>
            </a:r>
          </a:p>
          <a:p>
            <a:pPr marL="0" indent="0">
              <a:buNone/>
            </a:pPr>
            <a:endParaRPr lang="en-US" sz="1200" b="1" i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By Sadia Uzma Ashrafi and Yuvraj Kumar</a:t>
            </a:r>
            <a:endParaRPr lang="en-US" sz="1200" b="1" dirty="0">
              <a:solidFill>
                <a:schemeClr val="bg1"/>
              </a:solidFill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7C65CD00-4591-55B9-6DAD-9775F897E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120" y="4044878"/>
            <a:ext cx="5228832" cy="27916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Actually Does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sentence: it keeps track of every class, teacher, and room automatically, instead of someone doing it by hand.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892040" cy="1499382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9AA5C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ons/grid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81" y="215908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842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master list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25603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 session — who teaches it, which room, what day, what time — lives in one organized spreadsheet instead of scattered notes.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26480" y="1783080"/>
            <a:ext cx="5120640" cy="15544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9AA5C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55080" y="201168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icons/users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2481" y="215908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9842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Watches teacher workload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355080" y="26517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automatically flags which teachers are overloaded and which have room for more classes.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71892" y="3783329"/>
            <a:ext cx="4736905" cy="1396885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9AA5C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06908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icons/calendar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81" y="421648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0416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lookup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07019" y="4402974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 a teacher's ID and it instantly shows their entire week — no digging through files.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092643" y="3726180"/>
            <a:ext cx="4939554" cy="1361635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9AA5C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55080" y="3980064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icons/trend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2481" y="4206241"/>
            <a:ext cx="282366" cy="28236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40416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One-page dashboard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92240" y="4310575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important numbers and charts in one place, so a head of department can understand the whole school's schedule in 30 seconds.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— No Technical Background Needed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sheets talk to each other automatically. Change one number, and everything downstream updates itself.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50976" y="196596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9AA5C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96796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3217" y="240670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8136" y="30175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Data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15568" y="3447288"/>
            <a:ext cx="20025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Teachers, Subjects, Classes, Rooms, and the weekly Timetable — entered once.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282696" y="28346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602736" y="196596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9AA5C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48556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icons/gri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4977" y="240670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39896" y="30175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Sheet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767328" y="3447288"/>
            <a:ext cx="20025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 session automatically pulls in the right teacher, room, and subject details.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934456" y="28346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6254496" y="196596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9AA5C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00316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icons/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6737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91656" y="30175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Workload Tracker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419088" y="3447288"/>
            <a:ext cx="20025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teacher's hours are totalled and labelled Balanced, Overloaded, or Underloaded.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586216" y="28346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8906256" y="196596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9AA5C0">
                <a:alpha val="3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752076" y="2240280"/>
            <a:ext cx="640080" cy="640080"/>
          </a:xfrm>
          <a:prstGeom prst="ellipse">
            <a:avLst/>
          </a:prstGeom>
          <a:solidFill>
            <a:srgbClr val="FFB84D"/>
          </a:solidFill>
          <a:ln/>
        </p:spPr>
      </p:sp>
      <p:pic>
        <p:nvPicPr>
          <p:cNvPr id="24" name="Image 3" descr="icons/calenda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8497" y="2406701"/>
            <a:ext cx="307238" cy="30723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043416" y="30175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070848" y="3447288"/>
            <a:ext cx="20025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charts, and a teacher look-up tool — all built from the sheets before it.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777240" y="4709160"/>
            <a:ext cx="10607040" cy="1371600"/>
          </a:xfrm>
          <a:prstGeom prst="roundRect">
            <a:avLst>
              <a:gd name="adj" fmla="val 5333"/>
            </a:avLst>
          </a:prstGeom>
          <a:solidFill>
            <a:srgbClr val="F0F3FF"/>
          </a:solidFill>
          <a:ln/>
        </p:spPr>
      </p:sp>
      <p:sp>
        <p:nvSpPr>
          <p:cNvPr id="28" name="Shape 22"/>
          <p:cNvSpPr/>
          <p:nvPr/>
        </p:nvSpPr>
        <p:spPr>
          <a:xfrm>
            <a:off x="960120" y="49377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9" name="Image 4" descr="icons/zap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0879" y="5068519"/>
            <a:ext cx="241402" cy="24140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600200" y="48463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coding, no add-ins.  </a:t>
            </a: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above is a normal Excel formula — the kind any school's admin staff can open, read, and maintain themselves without hiring a developer.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Numbers, At a Glance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live from the actual dashboard — nothing here is estimated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90472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04672" y="198424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Tracked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83280" y="141732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3547872" y="1490472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547872" y="198424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Teacher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(hrs)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41732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/>
        </p:spPr>
      </p:sp>
      <p:sp>
        <p:nvSpPr>
          <p:cNvPr id="11" name="Text 9"/>
          <p:cNvSpPr/>
          <p:nvPr/>
        </p:nvSpPr>
        <p:spPr>
          <a:xfrm>
            <a:off x="6291072" y="1490472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91072" y="198424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Overloaded</a:t>
            </a:r>
            <a:endParaRPr lang="en-US" sz="10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869680" y="141732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/>
        </p:spPr>
      </p:sp>
      <p:sp>
        <p:nvSpPr>
          <p:cNvPr id="14" name="Text 12"/>
          <p:cNvSpPr/>
          <p:nvPr/>
        </p:nvSpPr>
        <p:spPr>
          <a:xfrm>
            <a:off x="9034272" y="1490472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034272" y="198424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606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by Department</a:t>
            </a:r>
            <a:endParaRPr lang="en-US" sz="1250" dirty="0"/>
          </a:p>
        </p:txBody>
      </p:sp>
      <p:graphicFrame>
        <p:nvGraphicFramePr>
          <p:cNvPr id="17" name="Chart 0"/>
          <p:cNvGraphicFramePr/>
          <p:nvPr>
            <p:extLst>
              <p:ext uri="{D42A27DB-BD31-4B8C-83A1-F6EECF244321}">
                <p14:modId xmlns:p14="http://schemas.microsoft.com/office/powerpoint/2010/main" val="2564173208"/>
              </p:ext>
            </p:extLst>
          </p:nvPr>
        </p:nvGraphicFramePr>
        <p:xfrm>
          <a:off x="640080" y="2926080"/>
          <a:ext cx="51206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/>
          <p:nvPr/>
        </p:nvSpPr>
        <p:spPr>
          <a:xfrm>
            <a:off x="6035040" y="26060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Workload Status</a:t>
            </a:r>
            <a:endParaRPr lang="en-US" sz="1250" dirty="0"/>
          </a:p>
        </p:txBody>
      </p:sp>
      <p:graphicFrame>
        <p:nvGraphicFramePr>
          <p:cNvPr id="19" name="Chart 1"/>
          <p:cNvGraphicFramePr/>
          <p:nvPr>
            <p:extLst>
              <p:ext uri="{D42A27DB-BD31-4B8C-83A1-F6EECF244321}">
                <p14:modId xmlns:p14="http://schemas.microsoft.com/office/powerpoint/2010/main" val="3820583591"/>
              </p:ext>
            </p:extLst>
          </p:nvPr>
        </p:nvGraphicFramePr>
        <p:xfrm>
          <a:off x="6035040" y="2926080"/>
          <a:ext cx="539496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Text 16"/>
          <p:cNvSpPr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tells a principal in 5 seconds:  </a:t>
            </a: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departments carry a fairly even load, but 4 teachers are already over capacity — a concrete, visible staffing signal.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It's Useful — In Plain Terms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jargon: here's what this actually changes for the people who run a school, college, or training center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17830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9AA5C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ons/clo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81" y="215908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842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Saves hours every week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checking spreadsheets by hand, one dashboard shows the full picture instantly, every time data changes.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26480" y="1783080"/>
            <a:ext cx="5120640" cy="17830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9AA5C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55080" y="201168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icons/shield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2481" y="215908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9842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Catches overload before it's a crisis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355080" y="26517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heading toward burnout show up as a red flag automatically — not after a complaint.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886200"/>
            <a:ext cx="5120640" cy="17830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9AA5C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1148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icons/dollar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81" y="426220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0873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new to buy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68680" y="475488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inside Excel, which almost every institution already owns. No license, no IT setup, no subscription.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26480" y="3886200"/>
            <a:ext cx="5120640" cy="17830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9AA5C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55080" y="41148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icons/target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2481" y="4262201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40873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number to trust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355080" y="475488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KPI on the dashboard is traceable back to a real formula — not a guess, not a manual tally that could be wrong.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It's Sellable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7724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institution would pay for this — or why it's worth building in-house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566928" cy="566928"/>
          </a:xfrm>
          <a:prstGeom prst="ellipse">
            <a:avLst/>
          </a:prstGeom>
          <a:solidFill>
            <a:srgbClr val="2B3880"/>
          </a:solidFill>
          <a:ln/>
        </p:spPr>
      </p:sp>
      <p:pic>
        <p:nvPicPr>
          <p:cNvPr id="5" name="Image 0" descr="icons/award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41" y="197620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0136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 → minutes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508760" y="221284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workload checks that used to take manual review now take one glance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77240" y="2788920"/>
            <a:ext cx="566928" cy="566928"/>
          </a:xfrm>
          <a:prstGeom prst="ellipse">
            <a:avLst/>
          </a:prstGeom>
          <a:solidFill>
            <a:srgbClr val="2B3880"/>
          </a:solidFill>
          <a:ln/>
        </p:spPr>
      </p:sp>
      <p:pic>
        <p:nvPicPr>
          <p:cNvPr id="9" name="Image 1" descr="icons/shield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641" y="2936321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76148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cost software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508760" y="317296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license fees — it lives inside Excel, which the institution already owns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77240" y="3749040"/>
            <a:ext cx="566928" cy="566928"/>
          </a:xfrm>
          <a:prstGeom prst="ellipse">
            <a:avLst/>
          </a:prstGeom>
          <a:solidFill>
            <a:srgbClr val="2B3880"/>
          </a:solidFill>
          <a:ln/>
        </p:spPr>
      </p:sp>
      <p:pic>
        <p:nvPicPr>
          <p:cNvPr id="13" name="Image 2" descr="icons/zap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641" y="3896441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72160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size institution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508760" y="413308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formulas scale from one department to an entire campus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720840" y="1828800"/>
            <a:ext cx="4663440" cy="3063240"/>
          </a:xfrm>
          <a:prstGeom prst="roundRect">
            <a:avLst>
              <a:gd name="adj" fmla="val 2985"/>
            </a:avLst>
          </a:prstGeom>
          <a:solidFill>
            <a:srgbClr val="2B3880"/>
          </a:solidFill>
          <a:ln/>
        </p:spPr>
      </p:sp>
      <p:sp>
        <p:nvSpPr>
          <p:cNvPr id="17" name="Text 12"/>
          <p:cNvSpPr/>
          <p:nvPr/>
        </p:nvSpPr>
        <p:spPr>
          <a:xfrm>
            <a:off x="699516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this sells to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6995160" y="2578608"/>
            <a:ext cx="100584" cy="100584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19" name="Text 14"/>
          <p:cNvSpPr/>
          <p:nvPr/>
        </p:nvSpPr>
        <p:spPr>
          <a:xfrm>
            <a:off x="7223760" y="244144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&amp; colleges still scheduling by hand or in spreadsheet chaos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995160" y="3108960"/>
            <a:ext cx="100584" cy="100584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21" name="Text 16"/>
          <p:cNvSpPr/>
          <p:nvPr/>
        </p:nvSpPr>
        <p:spPr>
          <a:xfrm>
            <a:off x="7223760" y="29718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institutes juggling instructors across multiple batches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995160" y="3639312"/>
            <a:ext cx="100584" cy="100584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23" name="Text 18"/>
          <p:cNvSpPr/>
          <p:nvPr/>
        </p:nvSpPr>
        <p:spPr>
          <a:xfrm>
            <a:off x="7223760" y="350215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admin office that dreads “timetable season” every term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995160" y="4169664"/>
            <a:ext cx="100584" cy="100584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25" name="Text 20"/>
          <p:cNvSpPr/>
          <p:nvPr/>
        </p:nvSpPr>
        <p:spPr>
          <a:xfrm>
            <a:off x="7223760" y="403250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not ready to pay for heavyweight scheduling software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77240" y="5074920"/>
            <a:ext cx="10607040" cy="1234440"/>
          </a:xfrm>
          <a:prstGeom prst="roundRect">
            <a:avLst>
              <a:gd name="adj" fmla="val 5926"/>
            </a:avLst>
          </a:prstGeom>
          <a:solidFill>
            <a:srgbClr val="2B3880"/>
          </a:solidFill>
          <a:ln/>
        </p:spPr>
      </p:sp>
      <p:sp>
        <p:nvSpPr>
          <p:cNvPr id="27" name="Text 22"/>
          <p:cNvSpPr/>
          <p:nvPr/>
        </p:nvSpPr>
        <p:spPr>
          <a:xfrm>
            <a:off x="1051560" y="52578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 in one line:  </a:t>
            </a: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tool that already lives inside the software you own, that turns hours of manual spreadsheet-checking into a one-glance dashboard — and tells you exactly where your staffing is stretched thin.”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685</Words>
  <Application>Microsoft Office PowerPoint</Application>
  <PresentationFormat>Widescreen</PresentationFormat>
  <Paragraphs>88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Sadia Ashrafi</cp:lastModifiedBy>
  <cp:revision>4</cp:revision>
  <dcterms:created xsi:type="dcterms:W3CDTF">2026-07-12T10:01:41Z</dcterms:created>
  <dcterms:modified xsi:type="dcterms:W3CDTF">2026-07-14T06:48:14Z</dcterms:modified>
</cp:coreProperties>
</file>